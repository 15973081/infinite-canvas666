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fe59dbc9c741fd" /><Relationship Type="http://schemas.openxmlformats.org/officeDocument/2006/relationships/extended-properties" Target="/docProps/app.xml" Id="R15673712a67d44ce" /><Relationship Type="http://schemas.openxmlformats.org/officeDocument/2006/relationships/officeDocument" Target="/ppt/presentation.xml" Id="R971bdd07cb094487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143abdd990c04eb8"/>
  </p:sldMasterIdLst>
  <p:notesMasterIdLst>
    <p:notesMasterId xmlns:r="http://schemas.openxmlformats.org/officeDocument/2006/relationships" r:id="R04e5252cf4594286"/>
  </p:notesMasterIdLst>
  <p:sldIdLst>
    <p:sldId xmlns:r="http://schemas.openxmlformats.org/officeDocument/2006/relationships" id="256" r:id="Rf823d88912c64cf0"/>
    <p:sldId xmlns:r="http://schemas.openxmlformats.org/officeDocument/2006/relationships" id="257" r:id="Re1768c5b12884690"/>
    <p:sldId xmlns:r="http://schemas.openxmlformats.org/officeDocument/2006/relationships" id="258" r:id="Rd44197818f2b4b73"/>
    <p:sldId xmlns:r="http://schemas.openxmlformats.org/officeDocument/2006/relationships" id="259" r:id="R15b9038df6ee418c"/>
    <p:sldId xmlns:r="http://schemas.openxmlformats.org/officeDocument/2006/relationships" id="260" r:id="R79023c93cd454810"/>
    <p:sldId xmlns:r="http://schemas.openxmlformats.org/officeDocument/2006/relationships" id="261" r:id="R3c4af55d069d45e5"/>
    <p:sldId xmlns:r="http://schemas.openxmlformats.org/officeDocument/2006/relationships" id="262" r:id="Rd77b6d88ce1a407d"/>
    <p:sldId xmlns:r="http://schemas.openxmlformats.org/officeDocument/2006/relationships" id="263" r:id="R375f6f3094974d72"/>
    <p:sldId xmlns:r="http://schemas.openxmlformats.org/officeDocument/2006/relationships" id="264" r:id="R20fbe4b5ec9d4f93"/>
    <p:sldId xmlns:r="http://schemas.openxmlformats.org/officeDocument/2006/relationships" id="265" r:id="R165e09ed27bd476f"/>
    <p:sldId xmlns:r="http://schemas.openxmlformats.org/officeDocument/2006/relationships" id="266" r:id="Rcace78819f8a4afc"/>
    <p:sldId xmlns:r="http://schemas.openxmlformats.org/officeDocument/2006/relationships" id="267" r:id="Re5f138466a154445"/>
  </p:sldIdLst>
  <p:sldSz cx="12192000" cy="6858000"/>
  <p:notesSz cx="6858000" cy="9144000"/>
  <p:embeddedFontLst>
    <p:embeddedFont>
      <p:font typeface="Inter"/>
      <p:regular xmlns:r="http://schemas.openxmlformats.org/officeDocument/2006/relationships" r:id="R2df540dd01724848"/>
      <p:bold xmlns:r="http://schemas.openxmlformats.org/officeDocument/2006/relationships" r:id="R1184845899824135"/>
    </p:embeddedFont>
    <p:embeddedFont>
      <p:font typeface="Inter Medium"/>
      <p:regular xmlns:r="http://schemas.openxmlformats.org/officeDocument/2006/relationships" r:id="R2c6c6a3372244df6"/>
    </p:embeddedFont>
    <p:embeddedFont>
      <p:font typeface="Inter SemiBold"/>
      <p:regular xmlns:r="http://schemas.openxmlformats.org/officeDocument/2006/relationships" r:id="R8b205803e0e140a8"/>
      <p:bold xmlns:r="http://schemas.openxmlformats.org/officeDocument/2006/relationships" r:id="R4bcdc83485ce40a4"/>
    </p:embeddedFont>
    <p:embeddedFont>
      <p:font typeface="OpenAI Sans"/>
      <p:regular xmlns:r="http://schemas.openxmlformats.org/officeDocument/2006/relationships" r:id="Rf4e3d821c7d742ab"/>
      <p:bold xmlns:r="http://schemas.openxmlformats.org/officeDocument/2006/relationships" r:id="R60f8b3631c974de5"/>
      <p:italic xmlns:r="http://schemas.openxmlformats.org/officeDocument/2006/relationships" r:id="Rde3cace6c09d4db8"/>
      <p:boldItalic xmlns:r="http://schemas.openxmlformats.org/officeDocument/2006/relationships" r:id="R6c02575a9ba6449f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59e400cf0d4d22" /><Relationship Type="http://schemas.openxmlformats.org/officeDocument/2006/relationships/slideMaster" Target="/ppt/slideMasters/slideMaster1.xml" Id="R143abdd990c04eb8" /><Relationship Type="http://schemas.openxmlformats.org/officeDocument/2006/relationships/notesMaster" Target="/ppt/notesMasters/notesMaster1.xml" Id="R04e5252cf4594286" /><Relationship Type="http://schemas.openxmlformats.org/officeDocument/2006/relationships/presProps" Target="/ppt/presProps.xml" Id="Rd4e238b9827c4bd0" /><Relationship Type="http://schemas.openxmlformats.org/officeDocument/2006/relationships/viewProps" Target="/ppt/viewProps.xml" Id="Rdabc9b23ef9a41fd" /><Relationship Type="http://schemas.openxmlformats.org/officeDocument/2006/relationships/tableStyles" Target="/ppt/tableStyles.xml" Id="R773d7e4abb1d47ca" /><Relationship Type="http://schemas.openxmlformats.org/officeDocument/2006/relationships/font" Target="/ppt/fonts/font.dat" Id="R2df540dd01724848" /><Relationship Type="http://schemas.openxmlformats.org/officeDocument/2006/relationships/font" Target="/ppt/fonts/font2.dat" Id="R1184845899824135" /><Relationship Type="http://schemas.openxmlformats.org/officeDocument/2006/relationships/font" Target="/ppt/fonts/font3.dat" Id="R2c6c6a3372244df6" /><Relationship Type="http://schemas.openxmlformats.org/officeDocument/2006/relationships/font" Target="/ppt/fonts/font4.dat" Id="R8b205803e0e140a8" /><Relationship Type="http://schemas.openxmlformats.org/officeDocument/2006/relationships/font" Target="/ppt/fonts/font5.dat" Id="R4bcdc83485ce40a4" /><Relationship Type="http://schemas.openxmlformats.org/officeDocument/2006/relationships/font" Target="/ppt/fonts/font6.dat" Id="Rf4e3d821c7d742ab" /><Relationship Type="http://schemas.openxmlformats.org/officeDocument/2006/relationships/font" Target="/ppt/fonts/font7.dat" Id="R60f8b3631c974de5" /><Relationship Type="http://schemas.openxmlformats.org/officeDocument/2006/relationships/font" Target="/ppt/fonts/font8.dat" Id="Rde3cace6c09d4db8" /><Relationship Type="http://schemas.openxmlformats.org/officeDocument/2006/relationships/font" Target="/ppt/fonts/font9.dat" Id="R6c02575a9ba6449f" /><Relationship Type="http://schemas.openxmlformats.org/officeDocument/2006/relationships/slide" Target="/ppt/slides/slide1.xml" Id="Rf823d88912c64cf0" /><Relationship Type="http://schemas.openxmlformats.org/officeDocument/2006/relationships/slide" Target="/ppt/slides/slide2.xml" Id="Re1768c5b12884690" /><Relationship Type="http://schemas.openxmlformats.org/officeDocument/2006/relationships/slide" Target="/ppt/slides/slide3.xml" Id="Rd44197818f2b4b73" /><Relationship Type="http://schemas.openxmlformats.org/officeDocument/2006/relationships/slide" Target="/ppt/slides/slide4.xml" Id="R15b9038df6ee418c" /><Relationship Type="http://schemas.openxmlformats.org/officeDocument/2006/relationships/slide" Target="/ppt/slides/slide5.xml" Id="R79023c93cd454810" /><Relationship Type="http://schemas.openxmlformats.org/officeDocument/2006/relationships/slide" Target="/ppt/slides/slide6.xml" Id="R3c4af55d069d45e5" /><Relationship Type="http://schemas.openxmlformats.org/officeDocument/2006/relationships/slide" Target="/ppt/slides/slide7.xml" Id="Rd77b6d88ce1a407d" /><Relationship Type="http://schemas.openxmlformats.org/officeDocument/2006/relationships/slide" Target="/ppt/slides/slide8.xml" Id="R375f6f3094974d72" /><Relationship Type="http://schemas.openxmlformats.org/officeDocument/2006/relationships/slide" Target="/ppt/slides/slide9.xml" Id="R20fbe4b5ec9d4f93" /><Relationship Type="http://schemas.openxmlformats.org/officeDocument/2006/relationships/slide" Target="/ppt/slides/slide10.xml" Id="R165e09ed27bd476f" /><Relationship Type="http://schemas.openxmlformats.org/officeDocument/2006/relationships/slide" Target="/ppt/slides/slide11.xml" Id="Rcace78819f8a4afc" /><Relationship Type="http://schemas.openxmlformats.org/officeDocument/2006/relationships/slide" Target="/ppt/slides/slide12.xml" Id="Re5f138466a1544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27fe9b6f9e49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dbe340aada492d" /><Relationship Type="http://schemas.openxmlformats.org/officeDocument/2006/relationships/notesMaster" Target="/ppt/notesMasters/notesMaster1.xml" Id="Rd7fac40eff8347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8f2560b88c4595" /><Relationship Type="http://schemas.openxmlformats.org/officeDocument/2006/relationships/notesMaster" Target="/ppt/notesMasters/notesMaster1.xml" Id="R2953e8ebb21642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5210d8c1d743a5" /><Relationship Type="http://schemas.openxmlformats.org/officeDocument/2006/relationships/notesMaster" Target="/ppt/notesMasters/notesMaster1.xml" Id="Rb74522631f3346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674e5345694b4c" /><Relationship Type="http://schemas.openxmlformats.org/officeDocument/2006/relationships/notesMaster" Target="/ppt/notesMasters/notesMaster1.xml" Id="Ra73723d8306149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370a34e43946b4" /><Relationship Type="http://schemas.openxmlformats.org/officeDocument/2006/relationships/notesMaster" Target="/ppt/notesMasters/notesMaster1.xml" Id="Re5b1cb69c5c74d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f77c5164db4e2f" /><Relationship Type="http://schemas.openxmlformats.org/officeDocument/2006/relationships/notesMaster" Target="/ppt/notesMasters/notesMaster1.xml" Id="R3782d5d6911d426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75031495564644" /><Relationship Type="http://schemas.openxmlformats.org/officeDocument/2006/relationships/notesMaster" Target="/ppt/notesMasters/notesMaster1.xml" Id="Ra48a2738706640f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1078c8ccff41d5" /><Relationship Type="http://schemas.openxmlformats.org/officeDocument/2006/relationships/notesMaster" Target="/ppt/notesMasters/notesMaster1.xml" Id="R7142718e0ff24bf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e06407969e343c6" /><Relationship Type="http://schemas.openxmlformats.org/officeDocument/2006/relationships/notesMaster" Target="/ppt/notesMasters/notesMaster1.xml" Id="Ra2f49f1f7d5f491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088fe33dc654551" /><Relationship Type="http://schemas.openxmlformats.org/officeDocument/2006/relationships/notesMaster" Target="/ppt/notesMasters/notesMaster1.xml" Id="R981a391f1c56419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144bd9880894c4d" /><Relationship Type="http://schemas.openxmlformats.org/officeDocument/2006/relationships/notesMaster" Target="/ppt/notesMasters/notesMaster1.xml" Id="R4b28129209b043e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7dc9af8f0ed4d29" /><Relationship Type="http://schemas.openxmlformats.org/officeDocument/2006/relationships/notesMaster" Target="/ppt/notesMasters/notesMaster1.xml" Id="Rdb251dea73024d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来源：C:/Users/MSI/Desktop/缺少的功能.pdf（两页），当前仓库提交与测试结果。日期：2026-10-15。后续路线为建议，不是已完成事项或交付日期承诺。详细验收见 docs/commercial-readiness-20261015.md。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来源：C:/Users/MSI/Desktop/缺少的功能.pdf（两页），当前仓库提交与测试结果。日期：2026-10-15。后续路线为建议，不是已完成事项或交付日期承诺。详细验收见 docs/commercial-readiness-20261015.md。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来源：C:/Users/MSI/Desktop/缺少的功能.pdf（两页），当前仓库提交与测试结果。日期：2026-10-15。后续路线为建议，不是已完成事项或交付日期承诺。详细验收见 docs/commercial-readiness-20261015.md。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来源：C:/Users/MSI/Desktop/缺少的功能.pdf（两页），当前仓库提交与测试结果。日期：2026-10-15。后续路线为建议，不是已完成事项或交付日期承诺。详细验收见 docs/commercial-readiness-20261015.md。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来源：C:/Users/MSI/Desktop/缺少的功能.pdf（两页），当前仓库提交与测试结果。日期：2026-10-15。后续路线为建议，不是已完成事项或交付日期承诺。详细验收见 docs/commercial-readiness-20261015.md。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来源：C:/Users/MSI/Desktop/缺少的功能.pdf（两页），当前仓库提交与测试结果。日期：2026-10-15。后续路线为建议，不是已完成事项或交付日期承诺。详细验收见 docs/commercial-readiness-20261015.md。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来源：C:/Users/MSI/Desktop/缺少的功能.pdf（两页），当前仓库提交与测试结果。日期：2026-10-15。后续路线为建议，不是已完成事项或交付日期承诺。详细验收见 docs/commercial-readiness-20261015.md。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来源：C:/Users/MSI/Desktop/缺少的功能.pdf（两页），当前仓库提交与测试结果。日期：2026-10-15。后续路线为建议，不是已完成事项或交付日期承诺。详细验收见 docs/commercial-readiness-20261015.md。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来源：C:/Users/MSI/Desktop/缺少的功能.pdf（两页），当前仓库提交与测试结果。日期：2026-10-15。后续路线为建议，不是已完成事项或交付日期承诺。详细验收见 docs/commercial-readiness-20261015.md。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来源：C:/Users/MSI/Desktop/缺少的功能.pdf（两页），当前仓库提交与测试结果。日期：2026-10-15。后续路线为建议，不是已完成事项或交付日期承诺。详细验收见 docs/commercial-readiness-20261015.md。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来源：C:/Users/MSI/Desktop/缺少的功能.pdf（两页），当前仓库提交与测试结果。日期：2026-10-15。后续路线为建议，不是已完成事项或交付日期承诺。详细验收见 docs/commercial-readiness-20261015.md。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来源：C:/Users/MSI/Desktop/缺少的功能.pdf（两页），当前仓库提交与测试结果。日期：2026-10-15。后续路线为建议，不是已完成事项或交付日期承诺。详细验收见 docs/commercial-readiness-20261015.md。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00c156b2ba437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a0fd6c31fd467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3215fcc374482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1caefba3094f6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31d6837fb54ae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5e6f20b88b43e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86fdd0fcf5474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7c6084c20a41b3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b5e5882ac141bb" /><Relationship Type="http://schemas.openxmlformats.org/officeDocument/2006/relationships/slideLayout" Target="/ppt/slideLayouts/slideLayout1.xml" Id="Rba74f801581640aa" /><Relationship Type="http://schemas.openxmlformats.org/officeDocument/2006/relationships/slideLayout" Target="/ppt/slideLayouts/slideLayout2.xml" Id="R4feaa90c1a0c4dd9" /><Relationship Type="http://schemas.openxmlformats.org/officeDocument/2006/relationships/slideLayout" Target="/ppt/slideLayouts/slideLayout3.xml" Id="R895fb8cc482c41d3" /><Relationship Type="http://schemas.openxmlformats.org/officeDocument/2006/relationships/slideLayout" Target="/ppt/slideLayouts/slideLayout4.xml" Id="Rcd44faab68254758" /><Relationship Type="http://schemas.openxmlformats.org/officeDocument/2006/relationships/slideLayout" Target="/ppt/slideLayouts/slideLayout5.xml" Id="R2f8efde322e043aa" /><Relationship Type="http://schemas.openxmlformats.org/officeDocument/2006/relationships/slideLayout" Target="/ppt/slideLayouts/slideLayout6.xml" Id="R6ef3fcdafd144870" /><Relationship Type="http://schemas.openxmlformats.org/officeDocument/2006/relationships/slideLayout" Target="/ppt/slideLayouts/slideLayout7.xml" Id="Rf89d41f61dfa4c33" /><Relationship Type="http://schemas.openxmlformats.org/officeDocument/2006/relationships/slideLayout" Target="/ppt/slideLayouts/slideLayout8.xml" Id="Rb3729ba48cde41b1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0026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74f801581640aa"/>
    <p:sldLayoutId xmlns:r="http://schemas.openxmlformats.org/officeDocument/2006/relationships" id="2147483650" r:id="R4feaa90c1a0c4dd9"/>
    <p:sldLayoutId xmlns:r="http://schemas.openxmlformats.org/officeDocument/2006/relationships" id="2147483651" r:id="R895fb8cc482c41d3"/>
    <p:sldLayoutId xmlns:r="http://schemas.openxmlformats.org/officeDocument/2006/relationships" id="2147483652" r:id="Rcd44faab68254758"/>
    <p:sldLayoutId xmlns:r="http://schemas.openxmlformats.org/officeDocument/2006/relationships" id="2147483653" r:id="R2f8efde322e043aa"/>
    <p:sldLayoutId xmlns:r="http://schemas.openxmlformats.org/officeDocument/2006/relationships" id="2147483654" r:id="R6ef3fcdafd144870"/>
    <p:sldLayoutId xmlns:r="http://schemas.openxmlformats.org/officeDocument/2006/relationships" id="2147483655" r:id="Rf89d41f61dfa4c33"/>
    <p:sldLayoutId xmlns:r="http://schemas.openxmlformats.org/officeDocument/2006/relationships" id="2147483656" r:id="Rb3729ba48cde41b1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0" i="0" kern="1200">
          <a:solidFill>
            <a:schemeClr val="tx1"/>
          </a:solidFill>
          <a:latin typeface="Inter Medium"/>
          <a:ea typeface="Inter Medium"/>
          <a:cs typeface="Inter Medium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xmlns:a="http://schemas.openxmlformats.org/drawingml/2006/main" val="F26B43"/>
          </p15:clr>
        </p15:guide>
        <p15:guide id="2" pos="7680">
          <p15:clr>
            <a:srgbClr xmlns:a="http://schemas.openxmlformats.org/drawingml/2006/main" val="F26B43"/>
          </p15:clr>
        </p15:guide>
        <p15:guide id="3" pos="248">
          <p15:clr>
            <a:srgbClr xmlns:a="http://schemas.openxmlformats.org/drawingml/2006/main" val="F26B43"/>
          </p15:clr>
        </p15:guide>
        <p15:guide id="4" pos="1264">
          <p15:clr>
            <a:srgbClr xmlns:a="http://schemas.openxmlformats.org/drawingml/2006/main" val="F26B43"/>
          </p15:clr>
        </p15:guide>
        <p15:guide id="5" pos="1480">
          <p15:clr>
            <a:srgbClr xmlns:a="http://schemas.openxmlformats.org/drawingml/2006/main" val="F26B43"/>
          </p15:clr>
        </p15:guide>
        <p15:guide id="6" pos="2496">
          <p15:clr>
            <a:srgbClr xmlns:a="http://schemas.openxmlformats.org/drawingml/2006/main" val="F26B43"/>
          </p15:clr>
        </p15:guide>
        <p15:guide id="7" pos="2712">
          <p15:clr>
            <a:srgbClr xmlns:a="http://schemas.openxmlformats.org/drawingml/2006/main" val="F26B43"/>
          </p15:clr>
        </p15:guide>
        <p15:guide id="8" pos="3736">
          <p15:clr>
            <a:srgbClr xmlns:a="http://schemas.openxmlformats.org/drawingml/2006/main" val="F26B43"/>
          </p15:clr>
        </p15:guide>
        <p15:guide id="9" pos="3944">
          <p15:clr>
            <a:srgbClr xmlns:a="http://schemas.openxmlformats.org/drawingml/2006/main" val="F26B43"/>
          </p15:clr>
        </p15:guide>
        <p15:guide id="10" pos="4968">
          <p15:clr>
            <a:srgbClr xmlns:a="http://schemas.openxmlformats.org/drawingml/2006/main" val="F26B43"/>
          </p15:clr>
        </p15:guide>
        <p15:guide id="11" pos="5184">
          <p15:clr>
            <a:srgbClr xmlns:a="http://schemas.openxmlformats.org/drawingml/2006/main" val="F26B43"/>
          </p15:clr>
        </p15:guide>
        <p15:guide id="12" pos="6200">
          <p15:clr>
            <a:srgbClr xmlns:a="http://schemas.openxmlformats.org/drawingml/2006/main" val="F26B43"/>
          </p15:clr>
        </p15:guide>
        <p15:guide id="13" pos="6416">
          <p15:clr>
            <a:srgbClr xmlns:a="http://schemas.openxmlformats.org/drawingml/2006/main" val="F26B43"/>
          </p15:clr>
        </p15:guide>
        <p15:guide id="14" pos="7432">
          <p15:clr>
            <a:srgbClr xmlns:a="http://schemas.openxmlformats.org/drawingml/2006/main" val="F26B43"/>
          </p15:clr>
        </p15:guide>
        <p15:guide id="15" orient="horz">
          <p15:clr>
            <a:srgbClr xmlns:a="http://schemas.openxmlformats.org/drawingml/2006/main" val="F26B43"/>
          </p15:clr>
        </p15:guide>
        <p15:guide id="17" orient="horz" pos="248">
          <p15:clr>
            <a:srgbClr xmlns:a="http://schemas.openxmlformats.org/drawingml/2006/main" val="F26B43"/>
          </p15:clr>
        </p15:guide>
        <p15:guide id="18" orient="horz" pos="656">
          <p15:clr>
            <a:srgbClr xmlns:a="http://schemas.openxmlformats.org/drawingml/2006/main" val="F26B43"/>
          </p15:clr>
        </p15:guide>
        <p15:guide id="19" orient="horz" pos="872">
          <p15:clr>
            <a:srgbClr xmlns:a="http://schemas.openxmlformats.org/drawingml/2006/main" val="F26B43"/>
          </p15:clr>
        </p15:guide>
        <p15:guide id="20" orient="horz" pos="1280">
          <p15:clr>
            <a:srgbClr xmlns:a="http://schemas.openxmlformats.org/drawingml/2006/main" val="F26B43"/>
          </p15:clr>
        </p15:guide>
        <p15:guide id="21" orient="horz" pos="1496">
          <p15:clr>
            <a:srgbClr xmlns:a="http://schemas.openxmlformats.org/drawingml/2006/main" val="F26B43"/>
          </p15:clr>
        </p15:guide>
        <p15:guide id="22" orient="horz" pos="1904">
          <p15:clr>
            <a:srgbClr xmlns:a="http://schemas.openxmlformats.org/drawingml/2006/main" val="F26B43"/>
          </p15:clr>
        </p15:guide>
        <p15:guide id="23" orient="horz" pos="2120">
          <p15:clr>
            <a:srgbClr xmlns:a="http://schemas.openxmlformats.org/drawingml/2006/main" val="F26B43"/>
          </p15:clr>
        </p15:guide>
        <p15:guide id="24" orient="horz" pos="2528">
          <p15:clr>
            <a:srgbClr xmlns:a="http://schemas.openxmlformats.org/drawingml/2006/main" val="F26B43"/>
          </p15:clr>
        </p15:guide>
        <p15:guide id="25" orient="horz" pos="2744">
          <p15:clr>
            <a:srgbClr xmlns:a="http://schemas.openxmlformats.org/drawingml/2006/main" val="F26B43"/>
          </p15:clr>
        </p15:guide>
        <p15:guide id="26" orient="horz" pos="3152">
          <p15:clr>
            <a:srgbClr xmlns:a="http://schemas.openxmlformats.org/drawingml/2006/main" val="F26B43"/>
          </p15:clr>
        </p15:guide>
        <p15:guide id="27" orient="horz" pos="3368">
          <p15:clr>
            <a:srgbClr xmlns:a="http://schemas.openxmlformats.org/drawingml/2006/main" val="F26B43"/>
          </p15:clr>
        </p15:guide>
        <p15:guide id="28" orient="horz" pos="3776">
          <p15:clr>
            <a:srgbClr xmlns:a="http://schemas.openxmlformats.org/drawingml/2006/main" val="F26B43"/>
          </p15:clr>
        </p15:guide>
        <p15:guide id="29" orient="horz" pos="4088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a87c4280164076" /><Relationship Type="http://schemas.openxmlformats.org/officeDocument/2006/relationships/notesSlide" Target="/ppt/notesSlides/notesSlide1.xml" Id="R1a77cec77fe34f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81a131b20847ef" /><Relationship Type="http://schemas.openxmlformats.org/officeDocument/2006/relationships/notesSlide" Target="/ppt/notesSlides/notesSlide2.xml" Id="R4357b58f29fd41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1f74bfb1644cf6" /><Relationship Type="http://schemas.openxmlformats.org/officeDocument/2006/relationships/image" Target="/ppt/media/image.png" Id="R891de810cdca4543" /><Relationship Type="http://schemas.openxmlformats.org/officeDocument/2006/relationships/notesSlide" Target="/ppt/notesSlides/notesSlide3.xml" Id="R9caa2f9a7e1244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99eb691813499d" /><Relationship Type="http://schemas.openxmlformats.org/officeDocument/2006/relationships/notesSlide" Target="/ppt/notesSlides/notesSlide4.xml" Id="Rdeabcd9bafee48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ffd51a8650476e" /><Relationship Type="http://schemas.openxmlformats.org/officeDocument/2006/relationships/notesSlide" Target="/ppt/notesSlides/notesSlide5.xml" Id="R91fba1bcc5674d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7586d020614af1" /><Relationship Type="http://schemas.openxmlformats.org/officeDocument/2006/relationships/notesSlide" Target="/ppt/notesSlides/notesSlide6.xml" Id="R7a23604b5fca4b5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3cdcb71241495a" /><Relationship Type="http://schemas.openxmlformats.org/officeDocument/2006/relationships/notesSlide" Target="/ppt/notesSlides/notesSlide7.xml" Id="R78cc83ee3ba44c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1e8492368043e6" /><Relationship Type="http://schemas.openxmlformats.org/officeDocument/2006/relationships/notesSlide" Target="/ppt/notesSlides/notesSlide8.xml" Id="Rd2affa867f1149e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8f96fc4880475a" /><Relationship Type="http://schemas.openxmlformats.org/officeDocument/2006/relationships/notesSlide" Target="/ppt/notesSlides/notesSlide9.xml" Id="R494238241a38477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cc5cc0f85d4c40" /><Relationship Type="http://schemas.openxmlformats.org/officeDocument/2006/relationships/notesSlide" Target="/ppt/notesSlides/notesSlide10.xml" Id="R63eefc2c386f476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cbf57733454a8b" /><Relationship Type="http://schemas.openxmlformats.org/officeDocument/2006/relationships/notesSlide" Target="/ppt/notesSlides/notesSlide11.xml" Id="R661774543b41432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cefeaa0e404f8d" /><Relationship Type="http://schemas.openxmlformats.org/officeDocument/2006/relationships/notesSlide" Target="/ppt/notesSlides/notesSlide12.xml" Id="R3e657b1cb0184cd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9A8DA10-BC74-F432-B483-CF813D4319A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371600" y="2066174"/>
            <a:ext cx="9448800" cy="220368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BCEF59"/>
                </a:solidFill>
              </a:rPr>
              <a:t>商业化准备</a:t>
            </a:r>
          </a:p>
          <a:p xmlns:a="http://schemas.openxmlformats.org/drawingml/2006/main">
            <a:pPr algn="ctr">
              <a:buNone/>
            </a:pPr>
            <a:r>
              <a:rPr sz="7200">
                <a:solidFill>
                  <a:srgbClr val="BCEF59"/>
                </a:solidFill>
              </a:rPr>
              <a:t>首轮交付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47DF5305-453D-AB88-8DE6-9846FEB1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1605" y="4874716"/>
            <a:ext cx="7267329" cy="6911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200">
                <a:latin typeface="Inter Medium"/>
                <a:ea typeface="Inter Medium"/>
                <a:cs typeface="Inter Medium"/>
              </a:rPr>
              <a:t>四项小目标及后续验收路线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A4393902-CF74-AC35-55A9-910ABBD4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264" y="1096027"/>
            <a:ext cx="2604013" cy="48881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tx1"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chemeClr val="tx1"/>
                </a:solidFill>
                <a:latin typeface="Inter SemiBold"/>
                <a:ea typeface="Inter SemiBold"/>
                <a:cs typeface="Inter SemiBold"/>
              </a:rPr>
              <a:t>2026.10.15</a:t>
            </a:r>
          </a:p>
        </p:txBody>
      </p:sp>
    </p:spTree>
    <p:extLst>
      <p:ext uri="{BB962C8B-B14F-4D97-AF65-F5344CB8AC3E}">
        <p14:creationId xmlns:p14="http://schemas.microsoft.com/office/powerpoint/2010/main" val="350773716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2FC4FC7-396D-BE8D-1F0E-C849A74CA5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B3BD1300-E71C-732F-134B-B7EE0492A9B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FC59BB80-DF6A-0532-F91A-4A78B8E582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4229100" cy="51959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BCEF59"/>
                </a:solidFill>
              </a:rPr>
              <a:t>本轮议程</a:t>
            </a:r>
          </a:p>
        </p:txBody>
      </p:sp>
      <p:graphicFrame>
        <p:nvGraphicFramePr>
          <p:cNvPr id="4" name="Table 3">
            <a:extLst xmlns:a="http://schemas.openxmlformats.org/drawingml/2006/main">
              <a:ext uri="{FF2B5EF4-FFF2-40B4-BE49-F238E27FC236}">
                <a16:creationId xmlns:a16="http://schemas.microsoft.com/office/drawing/2014/main" id="{A31030C5-A7C3-49DF-BBD0-A4F31ACCDD11}"/>
              </a:ext>
            </a:extLst>
          </p:cNvPr>
          <p:cNvGraphicFramePr/>
          <p:nvPr/>
        </p:nvGraphicFramePr>
        <p:xfrm>
          <a:off xmlns:a="http://schemas.openxmlformats.org/drawingml/2006/main" x="393700" y="1881809"/>
          <a:ext xmlns:a="http://schemas.openxmlformats.org/drawingml/2006/main" cx="11404600" cy="4112586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239"/>
                <a:gridCol w="7222435"/>
                <a:gridCol w="3422926"/>
              </a:tblGrid>
              <a:tr h="685431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01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需求与范围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strike="noStrike" cap="none" spc="0" baseline="0">
                          <a:ln>
                            <a:noFill/>
                          </a:ln>
                          <a:solidFill>
                            <a:srgbClr val="BCEF59"/>
                          </a:solidFill>
                          <a:latin typeface="+mn-lt"/>
                          <a:ea typeface="+mn-lt"/>
                          <a:cs typeface="+mn-lt"/>
                        </a:rPr>
                        <a:t>本轮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85431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02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本轮实现约束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strike="noStrike" cap="none" spc="0" baseline="0">
                          <a:ln>
                            <a:noFill/>
                          </a:ln>
                          <a:solidFill>
                            <a:srgbClr val="BCEF59"/>
                          </a:solidFill>
                          <a:latin typeface="+mn-lt"/>
                          <a:ea typeface="+mn-lt"/>
                          <a:cs typeface="+mn-lt"/>
                        </a:rPr>
                        <a:t>本轮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85431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03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四项修复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strike="noStrike" cap="none" spc="0" baseline="0">
                          <a:ln>
                            <a:noFill/>
                          </a:ln>
                          <a:solidFill>
                            <a:srgbClr val="BCEF59"/>
                          </a:solidFill>
                          <a:latin typeface="+mn-lt"/>
                          <a:ea typeface="+mn-lt"/>
                          <a:cs typeface="+mn-lt"/>
                        </a:rPr>
                        <a:t>本轮</a:t>
                      </a:r>
                      <a:endParaRPr sz="2500" b="0" i="0" u="none" strike="noStrike" kern="1200" cap="none" spc="0" baseline="0">
                        <a:ln>
                          <a:noFill/>
                        </a:ln>
                        <a:solidFill>
                          <a:srgbClr val="BCEF59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85431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04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验收方式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strike="noStrike" cap="none" spc="0" baseline="0">
                          <a:ln>
                            <a:noFill/>
                          </a:ln>
                          <a:solidFill>
                            <a:srgbClr val="BCEF59"/>
                          </a:solidFill>
                          <a:latin typeface="+mn-lt"/>
                          <a:ea typeface="+mn-lt"/>
                          <a:cs typeface="+mn-lt"/>
                        </a:rPr>
                        <a:t>本轮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85431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05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后续商业闭环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strike="noStrike" cap="none" spc="0" baseline="0">
                          <a:ln>
                            <a:noFill/>
                          </a:ln>
                          <a:solidFill>
                            <a:srgbClr val="BCEF59"/>
                          </a:solidFill>
                          <a:latin typeface="+mn-lt"/>
                          <a:ea typeface="+mn-lt"/>
                          <a:cs typeface="+mn-lt"/>
                        </a:rPr>
                        <a:t>后续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85431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06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发布前核对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strike="noStrike" cap="none" spc="0" baseline="0">
                          <a:ln>
                            <a:noFill/>
                          </a:ln>
                          <a:solidFill>
                            <a:srgbClr val="BCEF59"/>
                          </a:solidFill>
                          <a:latin typeface="+mn-lt"/>
                          <a:ea typeface="+mn-lt"/>
                          <a:cs typeface="+mn-lt"/>
                        </a:rPr>
                        <a:t>后续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587740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需求与范围</a:t>
            </a:r>
          </a:p>
        </p:txBody>
      </p:sp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AC6D6C52-9745-4FBB-86F1-FB243C841D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1de810cdca454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40" y="396409"/>
            <a:ext cx="5539740" cy="5602070"/>
          </a:xfrm>
          <a:prstGeom xmlns:a="http://schemas.openxmlformats.org/drawingml/2006/main" prst="roundRect">
            <a:avLst>
              <a:gd name="adj" fmla="val 1361"/>
            </a:avLst>
          </a:prstGeom>
        </p:spPr>
      </p:pic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D4EE2969-B7C7-0C70-E299-B866E67D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684867"/>
            <a:ext cx="5537200" cy="17441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>
                <a:solidFill>
                  <a:srgbClr val="BCEF59"/>
                </a:solidFill>
                <a:latin typeface="Inter"/>
                <a:ea typeface="Inter"/>
                <a:cs typeface="Inter"/>
              </a:rPr>
              <a:t>14 个需求方向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700">
                <a:latin typeface="Inter"/>
                <a:ea typeface="Inter"/>
                <a:cs typeface="Inter"/>
              </a:rPr>
              <a:t>原始 PDF 涵盖管理、空间、费用、素材和体验。已有模块先核对完成度，再补缺口。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2A34455-41AC-E436-D08C-DBCA262E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855855"/>
            <a:ext cx="5537200" cy="17441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>
                <a:solidFill>
                  <a:srgbClr val="BCEF59"/>
                </a:solidFill>
                <a:latin typeface="Inter"/>
                <a:ea typeface="Inter"/>
                <a:cs typeface="Inter"/>
              </a:rPr>
              <a:t>首轮先完成四项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700">
                <a:latin typeface="Inter"/>
                <a:ea typeface="Inter"/>
                <a:cs typeface="Inter"/>
              </a:rPr>
              <a:t>取消整页缩放、补齐会话失效提示、明确占用状态、统一协作弹窗。右图为本轮真实浏览器截图。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每个目标都有边界和验收证据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1">
                <a:latin typeface="Inter SemiBold"/>
                <a:ea typeface="Inter SemiBold"/>
                <a:cs typeface="Inter SemiBold"/>
              </a:rPr>
              <a:t>范围</a:t>
            </a:r>
            <a:endParaRPr sz="1800" b="1">
              <a:latin typeface="Inter SemiBold"/>
              <a:ea typeface="Inter SemiBold"/>
              <a:cs typeface="Inter SemiBold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Inter"/>
                <a:ea typeface="Inter"/>
                <a:cs typeface="Inter"/>
              </a:rPr>
              <a:t>每次只改一个可复现问题。实现、验证后独立提交，保留回退入口。</a:t>
            </a:r>
            <a:endParaRPr sz="1800">
              <a:latin typeface="Inter"/>
              <a:ea typeface="Inter"/>
              <a:cs typeface="Inter"/>
            </a:endParaRP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 b="1">
                <a:latin typeface="Inter SemiBold"/>
                <a:ea typeface="Inter SemiBold"/>
                <a:cs typeface="Inter SemiBold"/>
              </a:rPr>
              <a:t>交付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strike="noStrike" cap="none" spc="0" baseline="0">
                <a:ln>
                  <a:noFill/>
                </a:ln>
                <a:latin typeface="Inter"/>
                <a:ea typeface="Inter"/>
                <a:cs typeface="Inter"/>
              </a:rPr>
              <a:t>记录提交、结果和未覆盖项。产品体验仍需要用户初步验收。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 b="1">
                <a:latin typeface="Inter SemiBold"/>
                <a:ea typeface="Inter SemiBold"/>
                <a:cs typeface="Inter SemiBold"/>
              </a:rPr>
              <a:t>验证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strike="noStrike" cap="none" spc="0" baseline="0">
                <a:ln>
                  <a:noFill/>
                </a:ln>
                <a:latin typeface="Inter"/>
                <a:ea typeface="Inter"/>
                <a:cs typeface="Inter"/>
              </a:rPr>
              <a:t>自动化覆盖正常流程与失败场景。浏览器检查窄屏、弹窗和只读模式。</a:t>
            </a:r>
          </a:p>
        </p:txBody>
      </p:sp>
      <p:sp>
        <p:nvSpPr>
          <p:cNvPr id="7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D72B81A-AC75-C1B0-4313-7B84D705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763754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BCEF59"/>
                </a:solidFill>
                <a:latin typeface="Inter SemiBold"/>
                <a:ea typeface="Inter SemiBold"/>
                <a:cs typeface="Inter SemiBold"/>
              </a:rPr>
              <a:t>实现约束</a:t>
            </a:r>
          </a:p>
        </p:txBody>
      </p:sp>
      <p:sp>
        <p:nvSpPr>
          <p:cNvPr id="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200B2E2-6D19-9AFE-1E8D-518E55CC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763754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BCEF59"/>
                </a:solidFill>
                <a:latin typeface="Inter SemiBold"/>
                <a:ea typeface="Inter SemiBold"/>
                <a:cs typeface="Inter SemiBold"/>
              </a:rPr>
              <a:t>检查方式</a:t>
            </a: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4611C1F-A471-6B24-C785-2D7A5B5D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763754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BCEF59"/>
                </a:solidFill>
                <a:latin typeface="Inter SemiBold"/>
                <a:ea typeface="Inter SemiBold"/>
                <a:cs typeface="Inter SemiBold"/>
              </a:rPr>
              <a:t>验收责任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188" y="6278563"/>
            <a:ext cx="519112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四项已实现的改进</a:t>
            </a: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2032000"/>
            <a:ext cx="5537200" cy="16430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>
                <a:solidFill>
                  <a:srgbClr val="BCEF59"/>
                </a:solidFill>
              </a:rPr>
              <a:t>整页缩放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800" b="0" i="0" u="none" strike="noStrike" cap="none" spc="0" baseline="0">
                <a:ln>
                  <a:noFill/>
                </a:ln>
              </a:rPr>
              <a:t>取消自动放大和旧缩放偏好。浏览器缩放与画布缩放继续使用各自机制。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56618" y="2032000"/>
            <a:ext cx="5537200" cy="16430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>
                <a:solidFill>
                  <a:srgbClr val="BCEF59"/>
                </a:solidFill>
              </a:rPr>
              <a:t>登录失效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800" b="0" i="0" u="none" strike="noStrike" cap="none" spc="0" baseline="0">
                <a:ln>
                  <a:noFill/>
                </a:ln>
              </a:rPr>
              <a:t>账号接口失效也会提示。重新打开前检查未保存内容，避免直接刷新。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BCEF59"/>
                </a:solidFill>
              </a:rPr>
              <a:t>占用提示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800"/>
              <a:t>查询失败显示状态待确认。可手动刷新占用，不自动领取编辑权限。</a:t>
            </a: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BCEF59"/>
                </a:solidFill>
              </a:rPr>
              <a:t>组件样式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800"/>
              <a:t>草稿与只读预览采用 Pixmax 配色。弹窗居中，窄屏下保持可读和可操作。</a:t>
            </a:r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初步验收方法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0388" y="179792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>先检查失败场景</a:t>
            </a:r>
            <a:endParaRPr/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>再确认正常操作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388" y="3065806"/>
            <a:ext cx="4774279" cy="8860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700" b="0" i="0" u="none" strike="noStrike" cap="none" spc="0" baseline="0">
                <a:ln>
                  <a:noFill/>
                </a:ln>
              </a:rPr>
              <a:t>验收本轮四项时，重点观察 4K 屏幕、失效登录、占用查询失败和窄屏弹窗。确认错误恢复后内容仍在，旧锁接口未被调用。</a:t>
            </a:r>
            <a:endParaRPr sz="1700" b="0" i="0" u="none" strike="noStrike" kern="1200" cap="none" spc="0" baseline="0">
              <a:ln>
                <a:noFill/>
              </a:ln>
            </a:endParaR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D611070-583D-3F58-C192-8939D876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1722438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176A6DA9-A945-2CB8-E1DA-17DA3035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8" y="2017370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 lnSpcReduction="2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25000"/>
              </a:lnSpc>
              <a:spcBef>
                <a:spcPts val="0"/>
              </a:spcBef>
              <a:buFontTx/>
              <a:buNone/>
            </a:pPr>
            <a:r>
              <a:rPr sz="1800"/>
              <a:t>可复验</a:t>
            </a:r>
          </a:p>
          <a:p xmlns:a="http://schemas.openxmlformats.org/drawingml/2006/main">
            <a:pPr marL="0" indent="0">
              <a:lnSpc>
                <a:spcPct val="125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800"/>
              <a:t>自动化用受控接口模拟失败，不需要付费生成。运行命令与结果见交付记录。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A99370F-1C2A-C7A9-A2D7-8EC8D6F7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3734118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BB779E3-29A4-71DB-4059-EE4248BE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8" y="4029050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 lnSpcReduction="2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25000"/>
              </a:lnSpc>
              <a:spcBef>
                <a:spcPts val="0"/>
              </a:spcBef>
              <a:buFontTx/>
              <a:buNone/>
            </a:pPr>
            <a:r>
              <a:rPr sz="1800"/>
              <a:t>人工复核</a:t>
            </a:r>
          </a:p>
          <a:p xmlns:a="http://schemas.openxmlformats.org/drawingml/2006/main">
            <a:pPr marL="0" indent="0">
              <a:lnSpc>
                <a:spcPct val="125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800"/>
              <a:t>在实际工作空间走一遍日常操作。遇到偏差，记录页面、动作和期望结果后继续小步修正。</a:t>
            </a: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C152D0-CDF3-969A-A32E-0A1C97DA936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后续商业化工作</a:t>
            </a: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/>
              <a:t>明确私有空间与公共空间的成员、权限、迁移规则，以及租户停用后的访问行为。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BCEF59"/>
                </a:solidFill>
                <a:latin typeface="Inter Medium"/>
                <a:ea typeface="Inter Medium"/>
                <a:cs typeface="Inter Medium"/>
              </a:rPr>
              <a:t>空间与租户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/>
              <a:t>现有费用记录需要核对。后续单独定义充值订单、余额、扣费、退款与对账规则。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BCEF59"/>
                </a:solidFill>
                <a:latin typeface="Inter Medium"/>
                <a:ea typeface="Inter Medium"/>
                <a:cs typeface="Inter Medium"/>
              </a:rPr>
              <a:t>积分与费用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/>
              <a:t>明确归属、可见范围、删除、回收、恢复和保留期限，再验证跨空间访问。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BCEF59"/>
                </a:solidFill>
                <a:latin typeface="Inter Medium"/>
                <a:ea typeface="Inter Medium"/>
                <a:cs typeface="Inter Medium"/>
              </a:rPr>
              <a:t>素材生命周期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/>
              <a:t>梳理旧入口和组件差异，按用户任务统一导航、空状态和错误提示。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BCEF59"/>
                </a:solidFill>
                <a:latin typeface="Inter Medium"/>
                <a:ea typeface="Inter Medium"/>
                <a:cs typeface="Inter Medium"/>
              </a:rPr>
              <a:t>界面与首页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Inter Medium"/>
                <a:ea typeface="Inter Medium"/>
                <a:cs typeface="Inter Medium"/>
              </a:rPr>
              <a:t>以下为建议拆分，尚未完成产品验收。实施前先定义每项的业务规则与数据边界。</a:t>
            </a:r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86FC0B29-995A-397B-C2F3-07F01F97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152" y="2134181"/>
            <a:ext cx="3568700" cy="3709944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建议里程碑</a:t>
            </a:r>
          </a:p>
        </p:txBody>
      </p:sp>
      <p:cxnSp>
        <p:nvCxnSpPr>
          <p:cNvPr id="2" name="Google Shape;2259;p159">
            <a:extLst xmlns:a="http://schemas.openxmlformats.org/drawingml/2006/main">
              <a:ext uri="{FF2B5EF4-FFF2-40B4-BE49-F238E27FC236}">
                <a16:creationId xmlns:a16="http://schemas.microsoft.com/office/drawing/2014/main" id="{8ABCB0C1-370C-4206-86D8-8ACC0097FBF1}"/>
              </a:ext>
            </a:extLst>
          </p:cNvPr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3373753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BCEF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EF59"/>
          </a:solidFill>
          <a:ln xmlns:a="http://schemas.openxmlformats.org/drawingml/2006/main">
            <a:solidFill>
              <a:srgbClr val="BCEF59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EF59"/>
          </a:solidFill>
          <a:ln xmlns:a="http://schemas.openxmlformats.org/drawingml/2006/main">
            <a:solidFill>
              <a:srgbClr val="BCEF59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EF59"/>
          </a:solidFill>
          <a:ln xmlns:a="http://schemas.openxmlformats.org/drawingml/2006/main">
            <a:solidFill>
              <a:srgbClr val="BCEF59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BCEF59"/>
                </a:solidFill>
                <a:latin typeface="Inter SemiBold"/>
                <a:ea typeface="Inter SemiBold"/>
                <a:cs typeface="Inter SemiBold"/>
              </a:rPr>
              <a:t>首轮完成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BCEF59"/>
                </a:solidFill>
                <a:latin typeface="Inter SemiBold"/>
                <a:ea typeface="Inter SemiBold"/>
                <a:cs typeface="Inter SemiBold"/>
              </a:rPr>
              <a:t>下一轮建议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BCEF59"/>
                </a:solidFill>
                <a:latin typeface="Inter SemiBold"/>
                <a:ea typeface="Inter SemiBold"/>
                <a:cs typeface="Inter SemiBold"/>
              </a:rPr>
              <a:t>上线前验收</a:t>
            </a:r>
          </a:p>
        </p:txBody>
      </p:sp>
      <p:sp>
        <p:nvSpPr>
          <p:cNvPr id="8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0EE3B6B-F07C-271E-2F97-41D7686F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8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业务闭环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按空间权限、费用规则、素材生命周期逐项拆分。</a:t>
            </a:r>
          </a:p>
        </p:txBody>
      </p:sp>
      <p:sp>
        <p:nvSpPr>
          <p:cNvPr id="15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3EA0E10-C778-6971-AFB5-9B9B52B0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73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体验修复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四个小目标已提交，自动化通过。等待实际使用反馈。</a:t>
            </a:r>
          </a:p>
        </p:txBody>
      </p:sp>
      <p:sp>
        <p:nvSpPr>
          <p:cNvPr id="19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5A9F39A9-7A23-0F85-F761-1AB9FA6B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917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发布准备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核对商用授权与依赖来源，完成支付和权限联调后再安排发布。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595FF69-AA88-8653-2D13-3E0289A1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3AFD29D-9AD2-841D-0915-B4BDDC09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A10D6BE-4B8A-E31D-9AC6-AEB4FCD5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908090F4-C2CE-1329-8725-AC98A6AF8F6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64EBD68-6C7C-E1E5-F754-A2CABD28D4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本轮交付范围</a:t>
            </a:r>
            <a:endParaRPr/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8352425-466B-B7C0-4556-B12F3F4F6DB3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02413" y="4900613"/>
            <a:ext cx="2949575" cy="819150"/>
          </a:xfrm>
        </p:spPr>
        <p:txBody>
          <a:bodyPr xmlns:a="http://schemas.openxmlformats.org/drawingml/2006/main">
            <a:normAutofit fontScale="8151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原始需求方向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不代表 14 项已完成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D1B4876-C319-B371-36B9-745CADB662E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541859" y="4900613"/>
            <a:ext cx="2949575" cy="819150"/>
          </a:xfrm>
        </p:spPr>
        <p:txBody>
          <a:bodyPr xmlns:a="http://schemas.openxmlformats.org/drawingml/2006/main">
            <a:normAutofit fontScale="8151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本轮新增商业接口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支付接入仍待实施</a:t>
            </a:r>
          </a:p>
        </p:txBody>
      </p:sp>
      <p:sp>
        <p:nvSpPr>
          <p:cNvPr id="12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1BDFAF15-9B61-BA2E-0381-0DE8F578A81F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621211" y="4900613"/>
            <a:ext cx="2949575" cy="819150"/>
          </a:xfrm>
        </p:spPr>
        <p:txBody>
          <a:bodyPr xmlns:a="http://schemas.openxmlformats.org/drawingml/2006/main">
            <a:normAutofit fontScale="8151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已实现的小目标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每项独立提交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DBA9068-3E52-4988-B608-4CED930E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13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7000" b="0" i="0" u="none" strike="noStrike" cap="none" spc="0" baseline="0">
                <a:ln>
                  <a:noFill/>
                </a:ln>
                <a:solidFill>
                  <a:srgbClr val="BCEF59"/>
                </a:solidFill>
                <a:latin typeface="Helvetica Neue"/>
                <a:ea typeface="Helvetica Neue"/>
                <a:cs typeface="Helvetica Neue"/>
              </a:rPr>
              <a:t>14</a:t>
            </a:r>
            <a:endParaRPr sz="7000">
              <a:solidFill>
                <a:srgbClr val="BCEF59"/>
              </a:solidFill>
            </a:endParaRP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53D01BD-BEDA-E1D7-8112-CCD78E0B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3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7000" b="0" i="0" u="none" strike="noStrike" cap="none" spc="0" baseline="0">
                <a:ln>
                  <a:noFill/>
                </a:ln>
                <a:solidFill>
                  <a:srgbClr val="BCEF59"/>
                </a:solidFill>
                <a:latin typeface="Helvetica Neue"/>
                <a:ea typeface="Helvetica Neue"/>
                <a:cs typeface="Helvetica Neue"/>
              </a:rPr>
              <a:t>4</a:t>
            </a:r>
            <a:endParaRPr sz="7000">
              <a:solidFill>
                <a:srgbClr val="BCEF59"/>
              </a:solidFill>
            </a:endParaRPr>
          </a:p>
        </p:txBody>
      </p:sp>
      <p:sp>
        <p:nvSpPr>
          <p:cNvPr id="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AE7C386-15B3-0C22-BD29-DB00B9F7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36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7000" b="0" i="0" u="none" strike="noStrike" cap="none" spc="0" baseline="0">
                <a:ln>
                  <a:noFill/>
                </a:ln>
                <a:solidFill>
                  <a:srgbClr val="BCEF59"/>
                </a:solidFill>
                <a:latin typeface="Helvetica Neue"/>
                <a:ea typeface="Helvetica Neue"/>
                <a:cs typeface="Helvetica Neue"/>
              </a:rPr>
              <a:t>0</a:t>
            </a:r>
            <a:endParaRPr sz="7000">
              <a:solidFill>
                <a:srgbClr val="BCEF59"/>
              </a:solidFill>
            </a:endParaRP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E38982-B0CA-BEBE-C656-B7F62835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38300"/>
            <a:ext cx="11404599" cy="15994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latin typeface="Helvetica Neue Medium"/>
                <a:ea typeface="Helvetica Neue Medium"/>
                <a:cs typeface="Helvetica Neue Medium"/>
              </a:rPr>
              <a:t>完成度口径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四项改进覆盖 PDF 第 9、11、12、13 项的部分问题。当前不能据此认定整个商业化项目已完成，也不能用代码存在代替业务验收。</a:t>
            </a:r>
          </a:p>
        </p:txBody>
      </p:sp>
      <p:sp>
        <p:nvSpPr>
          <p:cNvPr id="9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7472BC53-6948-EE0F-E8E5-5488EF53DF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36961682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F06ADB7A-E0CB-A418-3590-620B0C5F17E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9EE8A1CA-4617-FF10-E8D0-B582B7F48A8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68499D35-F61B-DF1C-10A6-EA04E8D006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792557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后续推进顺序（建议）</a:t>
            </a:r>
          </a:p>
        </p:txBody>
      </p:sp>
      <p:graphicFrame>
        <p:nvGraphicFramePr>
          <p:cNvPr id="4" name="Google Shape;953;p80">
            <a:extLst xmlns:a="http://schemas.openxmlformats.org/drawingml/2006/main">
              <a:ext uri="{FF2B5EF4-FFF2-40B4-BE49-F238E27FC236}">
                <a16:creationId xmlns:a16="http://schemas.microsoft.com/office/drawing/2014/main" id="{8FC11E80-631D-4834-AE52-C3E82386AF7C}"/>
              </a:ext>
            </a:extLst>
          </p:cNvPr>
          <p:cNvGraphicFramePr/>
          <p:nvPr/>
        </p:nvGraphicFramePr>
        <p:xfrm>
          <a:off xmlns:a="http://schemas.openxmlformats.org/drawingml/2006/main" x="393699" y="1245705"/>
          <a:ext xmlns:a="http://schemas.openxmlformats.org/drawingml/2006/main" cx="11404600" cy="472219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0920"/>
                <a:gridCol w="2280920"/>
                <a:gridCol w="2280920"/>
                <a:gridCol w="2280920"/>
                <a:gridCol w="2280920"/>
              </a:tblGrid>
              <a:tr h="4722192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规则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9050" cmpd="sng">
                      <a:solidFill>
                        <a:srgbClr val="284638"/>
                      </a:solidFill>
                      <a:prstDash val="solid"/>
                    </a:lnL>
                    <a:lnR w="19050" cmpd="sng">
                      <a:solidFill>
                        <a:srgbClr val="284638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实现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9050" cmpd="sng">
                      <a:solidFill>
                        <a:srgbClr val="284638"/>
                      </a:solidFill>
                      <a:prstDash val="solid"/>
                    </a:lnL>
                    <a:lnR w="19050" cmpd="sng">
                      <a:solidFill>
                        <a:srgbClr val="284638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验证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9050" cmpd="sng">
                      <a:solidFill>
                        <a:srgbClr val="284638"/>
                      </a:solidFill>
                      <a:prstDash val="solid"/>
                    </a:lnL>
                    <a:lnR w="19050" cmpd="sng">
                      <a:solidFill>
                        <a:srgbClr val="284638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复核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9050" cmpd="sng">
                      <a:solidFill>
                        <a:srgbClr val="284638"/>
                      </a:solidFill>
                      <a:prstDash val="solid"/>
                    </a:lnL>
                    <a:lnR w="19050" cmpd="sng">
                      <a:solidFill>
                        <a:srgbClr val="284638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发布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9050" cmpd="sng">
                      <a:solidFill>
                        <a:srgbClr val="284638"/>
                      </a:solidFill>
                      <a:prstDash val="solid"/>
                    </a:lnL>
                    <a:lnR w="19050" cmpd="sng">
                      <a:solidFill>
                        <a:srgbClr val="284638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Google Shape;955;p80">
            <a:extLst xmlns:a="http://schemas.openxmlformats.org/drawingml/2006/main">
              <a:ext uri="{FF2B5EF4-FFF2-40B4-BE49-F238E27FC236}">
                <a16:creationId xmlns:a16="http://schemas.microsoft.com/office/drawing/2014/main" id="{EA32D89C-6778-2FE2-6D40-ABA6EAAD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718" y="4107740"/>
            <a:ext cx="4562665" cy="513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素材生命周期</a:t>
            </a:r>
          </a:p>
        </p:txBody>
      </p:sp>
      <p:sp>
        <p:nvSpPr>
          <p:cNvPr id="6" name="Google Shape;957;p80">
            <a:extLst xmlns:a="http://schemas.openxmlformats.org/drawingml/2006/main">
              <a:ext uri="{FF2B5EF4-FFF2-40B4-BE49-F238E27FC236}">
                <a16:creationId xmlns:a16="http://schemas.microsoft.com/office/drawing/2014/main" id="{D5359B3A-662D-9283-F7D8-9D5DCD65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93" y="5478390"/>
            <a:ext cx="11026708" cy="513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latin typeface="Inter SemiBold"/>
                <a:ea typeface="Inter SemiBold"/>
                <a:cs typeface="Inter SemiBold"/>
              </a:rPr>
              <a:t>每项验证后独立提交</a:t>
            </a:r>
            <a:endParaRPr sz="1500" b="1">
              <a:latin typeface="Inter SemiBold"/>
              <a:ea typeface="Inter SemiBold"/>
              <a:cs typeface="Inter SemiBold"/>
            </a:endParaRPr>
          </a:p>
        </p:txBody>
      </p:sp>
      <p:sp>
        <p:nvSpPr>
          <p:cNvPr id="7" name="Google Shape;960;p80">
            <a:extLst xmlns:a="http://schemas.openxmlformats.org/drawingml/2006/main">
              <a:ext uri="{FF2B5EF4-FFF2-40B4-BE49-F238E27FC236}">
                <a16:creationId xmlns:a16="http://schemas.microsoft.com/office/drawing/2014/main" id="{2293B6C0-CD6E-C9F0-68F7-73F7B726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2794" y="4754965"/>
            <a:ext cx="4088008" cy="513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CEF5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发布验收</a:t>
            </a:r>
          </a:p>
        </p:txBody>
      </p:sp>
      <p:sp>
        <p:nvSpPr>
          <p:cNvPr id="8" name="Google Shape;963;p80">
            <a:extLst xmlns:a="http://schemas.openxmlformats.org/drawingml/2006/main">
              <a:ext uri="{FF2B5EF4-FFF2-40B4-BE49-F238E27FC236}">
                <a16:creationId xmlns:a16="http://schemas.microsoft.com/office/drawing/2014/main" id="{0F4F3439-EC29-4518-4A3E-7436F857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968" y="3403140"/>
            <a:ext cx="8790833" cy="513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费用与充值闭环</a:t>
            </a:r>
          </a:p>
        </p:txBody>
      </p:sp>
      <p:sp>
        <p:nvSpPr>
          <p:cNvPr id="9" name="Google Shape;966;p80">
            <a:extLst xmlns:a="http://schemas.openxmlformats.org/drawingml/2006/main">
              <a:ext uri="{FF2B5EF4-FFF2-40B4-BE49-F238E27FC236}">
                <a16:creationId xmlns:a16="http://schemas.microsoft.com/office/drawing/2014/main" id="{1D07E5FD-0BEC-93D6-2CF5-BC908A51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968" y="2698515"/>
            <a:ext cx="6408538" cy="513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空间权限核对</a:t>
            </a:r>
          </a:p>
        </p:txBody>
      </p:sp>
      <p:sp>
        <p:nvSpPr>
          <p:cNvPr id="10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0AB147C5-D3F9-0847-C2A5-2A90154B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893" y="1975090"/>
            <a:ext cx="4185180" cy="513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CEF5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需求与规则确认</a:t>
            </a:r>
            <a:endParaRPr sz="1500" b="1">
              <a:solidFill>
                <a:schemeClr val="bg1"/>
              </a:solidFill>
              <a:latin typeface="Inter SemiBold"/>
              <a:ea typeface="Inter SemiBold"/>
              <a:cs typeface="Inter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43517153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Footer Placeholder 22">
            <a:extLst xmlns:a="http://schemas.openxmlformats.org/drawingml/2006/main">
              <a:ext uri="{FF2B5EF4-FFF2-40B4-BE49-F238E27FC236}">
                <a16:creationId xmlns:a16="http://schemas.microsoft.com/office/drawing/2014/main" id="{AD97F9EA-012C-21EB-B59E-E7F4EA1900F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0AF45DF-4338-2F83-4089-BDD9581316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4D2BBD2-B9DC-C05C-151C-46086B5BA5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后续需求分组（待排期）</a:t>
            </a:r>
          </a:p>
        </p:txBody>
      </p:sp>
      <p:graphicFrame>
        <p:nvGraphicFramePr>
          <p:cNvPr id="4" name="Google Shape;953;p80">
            <a:extLst xmlns:a="http://schemas.openxmlformats.org/drawingml/2006/main">
              <a:ext uri="{FF2B5EF4-FFF2-40B4-BE49-F238E27FC236}">
                <a16:creationId xmlns:a16="http://schemas.microsoft.com/office/drawing/2014/main" id="{91453894-126F-45C0-9EB9-8549B0612E51}"/>
              </a:ext>
            </a:extLst>
          </p:cNvPr>
          <p:cNvGraphicFramePr/>
          <p:nvPr/>
        </p:nvGraphicFramePr>
        <p:xfrm>
          <a:off xmlns:a="http://schemas.openxmlformats.org/drawingml/2006/main" x="393700" y="822085"/>
          <a:ext xmlns:a="http://schemas.openxmlformats.org/drawingml/2006/main" cx="11404600" cy="535011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0920"/>
                <a:gridCol w="2280920"/>
                <a:gridCol w="2280920"/>
                <a:gridCol w="2280920"/>
                <a:gridCol w="2280920"/>
              </a:tblGrid>
              <a:tr h="449963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管理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空间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费用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素材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体验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225038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权限</a:t>
                      </a:r>
                      <a:endParaRPr sz="1200" b="0" i="0" u="none" strike="noStrik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私有与公共</a:t>
                      </a: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定价</a:t>
                      </a:r>
                      <a:endParaRPr sz="1200" b="0" i="0" u="none" strike="noStrik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归属</a:t>
                      </a:r>
                      <a:endParaRPr sz="1200" b="0" i="0" u="none" strike="noStrik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首页</a:t>
                      </a:r>
                      <a:endParaRPr sz="1200" b="0" i="0" u="none" strike="noStrik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225038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停用</a:t>
                      </a: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邀请与迁移</a:t>
                      </a:r>
                      <a:endParaRPr sz="1200" b="0" i="0" u="none" strike="noStrik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充值</a:t>
                      </a:r>
                      <a:endParaRPr sz="1200" b="0" i="0" u="none" strike="noStrik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回收站</a:t>
                      </a:r>
                      <a:endParaRPr sz="1200" b="0" i="0" u="none" strike="noStrik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导航</a:t>
                      </a:r>
                      <a:endParaRPr sz="1200" b="0" i="0" u="none" strike="noStrik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225038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审计</a:t>
                      </a:r>
                      <a:endParaRPr sz="1200" b="0" i="0" u="none" strike="noStrik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权限变更</a:t>
                      </a:r>
                      <a:endParaRPr sz="1200" b="0" i="0" u="none" strike="noStrik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扣费与退款</a:t>
                      </a:r>
                      <a:endParaRPr sz="1200" b="0" i="0" u="none" strike="noStrik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保留期限</a:t>
                      </a:r>
                      <a:endParaRPr sz="1200" b="0" i="0" u="none" strike="noStrik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旧组件</a:t>
                      </a: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225038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配置</a:t>
                      </a:r>
                      <a:endParaRPr sz="1200" b="0" i="0" u="none" strike="noStrik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跨空间校验</a:t>
                      </a:r>
                      <a:endParaRPr sz="1200" b="0" i="0" u="none" strike="noStrik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对账</a:t>
                      </a:r>
                      <a:endParaRPr sz="1200" b="0" i="0" u="none" strike="noStrik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恢复</a:t>
                      </a:r>
                      <a:endParaRPr sz="1200" b="0" i="0" u="none" strike="noStrik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空状态</a:t>
                      </a: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A122CFB3-561F-F57A-0D76-5F64F78E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946" y="1633394"/>
            <a:ext cx="2004054" cy="339939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CEF5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成员管理</a:t>
            </a:r>
          </a:p>
        </p:txBody>
      </p:sp>
      <p:sp>
        <p:nvSpPr>
          <p:cNvPr id="5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C931B0DD-E0CC-3A4D-1652-DEF41244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946" y="2039794"/>
            <a:ext cx="2004054" cy="339939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CEF5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租户策略</a:t>
            </a:r>
          </a:p>
        </p:txBody>
      </p:sp>
      <p:sp>
        <p:nvSpPr>
          <p:cNvPr id="6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55193150-005D-DDAC-ACAE-A50653E1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246" y="1788470"/>
            <a:ext cx="2004054" cy="339939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CEF5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积分规则</a:t>
            </a:r>
            <a:endParaRPr sz="1100" b="1">
              <a:solidFill>
                <a:schemeClr val="bg1"/>
              </a:solidFill>
              <a:latin typeface="Inter SemiBold"/>
              <a:ea typeface="Inter SemiBold"/>
              <a:cs typeface="Inter SemiBold"/>
            </a:endParaRPr>
          </a:p>
        </p:txBody>
      </p:sp>
      <p:sp>
        <p:nvSpPr>
          <p:cNvPr id="9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E6450C44-6EBB-C6EE-22ED-5AD1B797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946" y="4257498"/>
            <a:ext cx="2004054" cy="339939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CEF5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审计记录</a:t>
            </a:r>
          </a:p>
        </p:txBody>
      </p:sp>
      <p:sp>
        <p:nvSpPr>
          <p:cNvPr id="10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514ABA49-AA4D-75E4-06B4-7B2D65B6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546" y="4257498"/>
            <a:ext cx="2004054" cy="339939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CEF5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生命周期</a:t>
            </a:r>
          </a:p>
        </p:txBody>
      </p:sp>
      <p:sp>
        <p:nvSpPr>
          <p:cNvPr id="14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0A803CC6-DD7B-E7CD-2227-ACC292A5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1946" y="5458770"/>
            <a:ext cx="2004054" cy="339939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CEF5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访问边界</a:t>
            </a:r>
          </a:p>
        </p:txBody>
      </p:sp>
    </p:spTree>
    <p:extLst>
      <p:ext uri="{BB962C8B-B14F-4D97-AF65-F5344CB8AC3E}">
        <p14:creationId xmlns:p14="http://schemas.microsoft.com/office/powerpoint/2010/main" val="429120901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1F94652D-58EE-6496-27FC-88868633C2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371600" y="2066174"/>
            <a:ext cx="9448800" cy="220368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BCEF59"/>
                </a:solidFill>
              </a:rPr>
              <a:t>四项修复</a:t>
            </a:r>
          </a:p>
          <a:p xmlns:a="http://schemas.openxmlformats.org/drawingml/2006/main">
            <a:pPr algn="ctr">
              <a:buNone/>
            </a:pPr>
            <a:r>
              <a:rPr sz="7200">
                <a:solidFill>
                  <a:srgbClr val="BCEF59"/>
                </a:solidFill>
              </a:rPr>
              <a:t>进入初步验收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7A15B0DD-3ED8-37CA-9675-F348EABF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1605" y="4874716"/>
            <a:ext cx="7267329" cy="6911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200">
                <a:latin typeface="Inter Medium"/>
                <a:ea typeface="Inter Medium"/>
                <a:cs typeface="Inter Medium"/>
              </a:rPr>
              <a:t>后续按验收结果继续小步推进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64FF5F30-1F7D-7291-7074-4D9972C8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264" y="1096027"/>
            <a:ext cx="2604013" cy="48881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tx1"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chemeClr val="tx1"/>
                </a:solidFill>
                <a:latin typeface="Inter SemiBold"/>
                <a:ea typeface="Inter SemiBold"/>
                <a:cs typeface="Inter SemiBold"/>
              </a:rPr>
              <a:t>2026.10.15</a:t>
            </a:r>
          </a:p>
        </p:txBody>
      </p:sp>
    </p:spTree>
    <p:extLst>
      <p:ext uri="{BB962C8B-B14F-4D97-AF65-F5344CB8AC3E}">
        <p14:creationId xmlns:p14="http://schemas.microsoft.com/office/powerpoint/2010/main" val="2385373601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2026-10-15T12:32:32.2560000Z</dcterms:created>
  <dcterms:modified xsi:type="dcterms:W3CDTF">2026-10-15T12:32:32.2560000Z</dcterms:modified>
</coreProperties>
</file>